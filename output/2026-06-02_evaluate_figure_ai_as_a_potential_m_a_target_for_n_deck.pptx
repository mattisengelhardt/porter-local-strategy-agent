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3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s Engelhardt" userId="4625836812fc3201" providerId="LiveId" clId="{83B48B91-217B-405F-B647-DD55646E5143}"/>
    <pc:docChg chg="modSld">
      <pc:chgData name="Mattis Engelhardt" userId="4625836812fc3201" providerId="LiveId" clId="{83B48B91-217B-405F-B647-DD55646E5143}" dt="2026-06-02T05:16:35.277" v="11" actId="20577"/>
      <pc:docMkLst>
        <pc:docMk/>
      </pc:docMkLst>
      <pc:sldChg chg="modSp mod">
        <pc:chgData name="Mattis Engelhardt" userId="4625836812fc3201" providerId="LiveId" clId="{83B48B91-217B-405F-B647-DD55646E5143}" dt="2026-06-02T05:16:35.277" v="11" actId="20577"/>
        <pc:sldMkLst>
          <pc:docMk/>
          <pc:sldMk cId="0" sldId="256"/>
        </pc:sldMkLst>
        <pc:spChg chg="mod">
          <ac:chgData name="Mattis Engelhardt" userId="4625836812fc3201" providerId="LiveId" clId="{83B48B91-217B-405F-B647-DD55646E5143}" dt="2026-06-02T05:16:35.277" v="11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66928"/>
            <a:ext cx="2514600" cy="384048"/>
          </a:xfrm>
          <a:prstGeom prst="roundRect">
            <a:avLst/>
          </a:prstGeom>
          <a:solidFill>
            <a:srgbClr val="15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6583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FFFFFF"/>
                </a:solidFill>
                <a:latin typeface="Aptos Display"/>
              </a:rPr>
              <a:t>Strategische</a:t>
            </a:r>
            <a:r>
              <a:rPr sz="4000" b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ptos Display"/>
              </a:rPr>
              <a:t>Bewertung</a:t>
            </a:r>
            <a:r>
              <a:rPr sz="4000" b="1" dirty="0">
                <a:solidFill>
                  <a:srgbClr val="FFFFFF"/>
                </a:solidFill>
                <a:latin typeface="Aptos Display"/>
              </a:rPr>
              <a:t>: </a:t>
            </a:r>
            <a:r>
              <a:rPr sz="4000" b="1" dirty="0" err="1">
                <a:solidFill>
                  <a:srgbClr val="FFFFFF"/>
                </a:solidFill>
                <a:latin typeface="Aptos Display"/>
              </a:rPr>
              <a:t>Akquisition</a:t>
            </a:r>
            <a:r>
              <a:rPr sz="4000" b="1" dirty="0">
                <a:solidFill>
                  <a:srgbClr val="FFFFFF"/>
                </a:solidFill>
                <a:latin typeface="Aptos Display"/>
              </a:rPr>
              <a:t> von Figure AI </a:t>
            </a:r>
            <a:r>
              <a:rPr sz="4000" b="1" dirty="0" err="1">
                <a:solidFill>
                  <a:srgbClr val="FFFFFF"/>
                </a:solidFill>
                <a:latin typeface="Aptos Display"/>
              </a:rPr>
              <a:t>als</a:t>
            </a:r>
            <a:r>
              <a:rPr sz="4000" b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Aptos Display"/>
              </a:rPr>
              <a:t>potenzielles</a:t>
            </a:r>
            <a:r>
              <a:rPr sz="4000" b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lang="de-DE" sz="4000" b="1">
                <a:solidFill>
                  <a:srgbClr val="FFFFFF"/>
                </a:solidFill>
                <a:latin typeface="Aptos Display"/>
              </a:rPr>
              <a:t>Target</a:t>
            </a:r>
            <a:endParaRPr sz="40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DACC7"/>
                </a:solidFill>
                <a:latin typeface="Aptos"/>
              </a:rPr>
              <a:t>Interne Management-Präsentation | Metzingen, Deutschland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F5F5"/>
                </a:solidFill>
                <a:latin typeface="Aptos"/>
              </a:rPr>
              <a:t>2026-06-02</a:t>
            </a:r>
          </a:p>
        </p:txBody>
      </p:sp>
      <p:pic>
        <p:nvPicPr>
          <p:cNvPr id="9" name="Picture 8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54" y="598932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336792"/>
            <a:ext cx="99669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Aptos"/>
              </a:rPr>
              <a:t>KERNAUSSAGE |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Apto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57200"/>
            <a:ext cx="10469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 Display"/>
              </a:rPr>
              <a:t>Die Übernahme von Figure AI ist ein strategischer Wendepunkt, der gezielte IP-Akquisition erfordert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744200" cy="1078992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Die strategische Wertschöpfung liegt in den proprietären Algorithmen und dem Talentpool, nicht im Hardware-Rohbau.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80360"/>
            <a:ext cx="5239512" cy="147218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08152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02152"/>
            <a:ext cx="4828032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Die größte Gefahr ist die Überbewertung des aktuellen Technologiezustands (Maturity Gap).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880360"/>
            <a:ext cx="5239512" cy="147218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08152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02152"/>
            <a:ext cx="4828032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Wir sollten nicht das gesamte Unternehmen, sondern spezifische, kritische Module erwerben.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608576"/>
            <a:ext cx="5239512" cy="147218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809744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230368"/>
            <a:ext cx="4828032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Empfehlung: Ein gestaffelter, risikominimierender Ansatz, der sich auf KI-Software und Lokomotions-IP konzentriert, ist der schnellste Weg...</a:t>
            </a:r>
          </a:p>
        </p:txBody>
      </p:sp>
      <p:pic>
        <p:nvPicPr>
          <p:cNvPr id="7" name="Picture 6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54" y="598932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336792"/>
            <a:ext cx="99669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Aptos"/>
              </a:rPr>
              <a:t>SIGNALE |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Aptos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57200"/>
            <a:ext cx="10469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 Display"/>
              </a:rPr>
              <a:t>Die Quellenbasis zeigt 4 konkrete Beleganker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10744200" cy="1078992"/>
          </a:xfrm>
          <a:prstGeom prst="roundRect">
            <a:avLst/>
          </a:prstGeom>
          <a:solidFill>
            <a:srgbClr val="4DA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Nur validierte Fakten sichtbar machen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99008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57A6E"/>
                </a:solidFill>
                <a:latin typeface="Aptos"/>
              </a:rPr>
              <a:t>73105787746835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2990088"/>
            <a:ext cx="35021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https://www.linkedin.com/posts/analytics-india-magazine_figure-ai-has-introduced-a-groundbreaking-activity-7310578774683570178-ADpb (https://www.linkedin.com/post...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788920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99008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57A6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990088"/>
            <a:ext cx="35021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https://www.figure.ai/news/helix-02 (https://www.figure.ai/news/helix-02)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62856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764024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184648"/>
            <a:ext cx="482803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https://neura-robotics.com/ (https://neura-robotics.com/)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562856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764024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184648"/>
            <a:ext cx="482803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https://blog.robozaps.com/b/best-humanoid-robots (https://blog.robozaps.com/b/best-humanoid-robots)</a:t>
            </a:r>
          </a:p>
        </p:txBody>
      </p:sp>
      <p:pic>
        <p:nvPicPr>
          <p:cNvPr id="7" name="Picture 6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54" y="598932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336792"/>
            <a:ext cx="99669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Aptos"/>
              </a:rPr>
              <a:t>VERGLEICH |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57200"/>
            <a:ext cx="10469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 Display"/>
              </a:rPr>
              <a:t>Unsere Differenzierungsstrategie vermeidet direkte Konfrontation mit Generalisten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10744200" cy="1078992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Vergleich der strategischen Schwerpunkte im Markt für humanoide Robotik.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788920"/>
          <a:ext cx="107442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Figure AI (Ziel)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Neura Robotics (Wir)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>Fokus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>Allgemeine, generalistische Plattform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>Spezialisierte, vertikale Lösungen (z.B. Logistik, Fertigung)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>Kernwert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>Hardware-Demonstration, VLA-Modelle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>Nahtlose Integration, Branchen-Know-how (Omni-Integration)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>Strategie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>Direkter Wettbewerb, breite Anwendungsspektren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>Partnerschaften, Differenzierung durch Anwendungsspezialisierung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54" y="598932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336792"/>
            <a:ext cx="99669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Aptos"/>
              </a:rPr>
              <a:t>UNTERNEHMEN |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Aptos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57200"/>
            <a:ext cx="10469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 Display"/>
              </a:rPr>
              <a:t>Der wahre Wert von Figure AI liegt in der Vision-Sprache-Aktion (VLA)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10744200" cy="1078992"/>
          </a:xfrm>
          <a:prstGeom prst="roundRect">
            <a:avLst/>
          </a:prstGeom>
          <a:solidFill>
            <a:srgbClr val="4DA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Fokus auf die technologischen Säulen: VLA-Modelle und die Steuerung der Entscheidungsfindung.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99008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410712"/>
            <a:ext cx="482803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Die proprietäre KI-Software-Schicht (AI Stack) ist der kritischste und wertvollste Vermögenswert.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788920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99008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10712"/>
            <a:ext cx="482803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Die Fähigkeit, LLMs mit physischer Hardware zu verknüpfen, ist der technische Durchbruch, den wir akquirieren müssen.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62856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764024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184648"/>
            <a:ext cx="482803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Lokomotions- und Manipulations-IP muss tiefgehend technisch geprüft werden, um die Skalierbarkeit zu gewährleisten.</a:t>
            </a:r>
          </a:p>
        </p:txBody>
      </p:sp>
      <p:pic>
        <p:nvPicPr>
          <p:cNvPr id="7" name="Picture 6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54" y="598932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336792"/>
            <a:ext cx="99669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Aptos"/>
              </a:rPr>
              <a:t>SWOT |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57200"/>
            <a:ext cx="10469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 Display"/>
              </a:rPr>
              <a:t>Die Technologie-Reife ist das größte Risiko, das unsere Akquisitionsstrategie steuern muss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00200"/>
            <a:ext cx="5193792" cy="1975104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Aptos"/>
              </a:rPr>
              <a:t>Stärken</a:t>
            </a:r>
          </a:p>
          <a:p>
            <a:r>
              <a:rPr sz="1200">
                <a:solidFill>
                  <a:srgbClr val="111111"/>
                </a:solidFill>
                <a:latin typeface="Aptos"/>
              </a:rPr>
              <a:t>- Fortschrittliche, generalistische Plattform</a:t>
            </a:r>
          </a:p>
          <a:p>
            <a:r>
              <a:rPr sz="1200">
                <a:solidFill>
                  <a:srgbClr val="111111"/>
                </a:solidFill>
                <a:latin typeface="Aptos"/>
              </a:rPr>
              <a:t>- Hohe Investitionen und Sichtbarkeit.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193792" cy="1975104"/>
          </a:xfrm>
          <a:prstGeom prst="roundRect">
            <a:avLst/>
          </a:prstGeom>
          <a:solidFill>
            <a:srgbClr val="FFD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Aptos"/>
              </a:rPr>
              <a:t>Schwächen</a:t>
            </a:r>
          </a:p>
          <a:p>
            <a:r>
              <a:rPr sz="1200">
                <a:solidFill>
                  <a:srgbClr val="111111"/>
                </a:solidFill>
                <a:latin typeface="Aptos"/>
              </a:rPr>
              <a:t>- Nachgewiesene Zuverlässigkeit in variablen Industrieumgebungen fehlt</a:t>
            </a:r>
          </a:p>
          <a:p>
            <a:r>
              <a:rPr sz="1200">
                <a:solidFill>
                  <a:srgbClr val="111111"/>
                </a:solidFill>
                <a:latin typeface="Aptos"/>
              </a:rPr>
              <a:t>- Hohe Komplexität der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86200"/>
            <a:ext cx="5193792" cy="1975104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Aptos"/>
              </a:rPr>
              <a:t>Chancen</a:t>
            </a:r>
          </a:p>
          <a:p>
            <a:r>
              <a:rPr sz="1200">
                <a:solidFill>
                  <a:srgbClr val="111111"/>
                </a:solidFill>
                <a:latin typeface="Aptos"/>
              </a:rPr>
              <a:t>- Akquisition von führendem VLA-IP und Talent</a:t>
            </a:r>
          </a:p>
          <a:p>
            <a:r>
              <a:rPr sz="1200">
                <a:solidFill>
                  <a:srgbClr val="111111"/>
                </a:solidFill>
                <a:latin typeface="Aptos"/>
              </a:rPr>
              <a:t>- Beschleunigung des eigenen Markteintritts.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886200"/>
            <a:ext cx="5193792" cy="1975104"/>
          </a:xfrm>
          <a:prstGeom prst="roundRect">
            <a:avLst/>
          </a:prstGeom>
          <a:solidFill>
            <a:srgbClr val="FFD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500" b="1">
                <a:solidFill>
                  <a:srgbClr val="111111"/>
                </a:solidFill>
                <a:latin typeface="Aptos"/>
              </a:rPr>
              <a:t>Bedrohungen</a:t>
            </a:r>
          </a:p>
          <a:p>
            <a:r>
              <a:rPr sz="1200">
                <a:solidFill>
                  <a:srgbClr val="111111"/>
                </a:solidFill>
                <a:latin typeface="Aptos"/>
              </a:rPr>
              <a:t>- Überbewertung des Unternehmens</a:t>
            </a:r>
          </a:p>
          <a:p>
            <a:r>
              <a:rPr sz="1200">
                <a:solidFill>
                  <a:srgbClr val="111111"/>
                </a:solidFill>
                <a:latin typeface="Aptos"/>
              </a:rPr>
              <a:t>- Langwierige und risikoreiche Due Diligence.</a:t>
            </a:r>
          </a:p>
        </p:txBody>
      </p:sp>
      <p:pic>
        <p:nvPicPr>
          <p:cNvPr id="7" name="Picture 6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54" y="598932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4DA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336792"/>
            <a:ext cx="99669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Aptos"/>
              </a:rPr>
              <a:t>SIGNALE |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57200"/>
            <a:ext cx="10469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 Display"/>
              </a:rPr>
              <a:t>Ein gestaffelter IP-Kauf minimiert das Risiko und maximiert die Markteinführungsgeschwindigkeit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10744200" cy="1078992"/>
          </a:xfrm>
          <a:prstGeom prst="roundRect">
            <a:avLst/>
          </a:prstGeom>
          <a:solidFill>
            <a:srgbClr val="4DA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Empfohlener 3-Phasen-Plan zur Risikominderung und Wertmaximierung.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99008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57A6E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2990088"/>
            <a:ext cx="35021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Phase 1 (Priorität): Akquisition des AI Software Stacks und des Kern-IP (VLA/Lokomotion).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788920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99008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57A6E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990088"/>
            <a:ext cx="35021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Phase 2: Integration des spezialisierten Talents (CTOs, KI-Ingenieure) zur Überbrückung der Reifungslücke.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62856"/>
            <a:ext cx="5239512" cy="1517904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764024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57A6E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4764024"/>
            <a:ext cx="35021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Phase 3: Co-Entwicklung von Nischenlösungen mit Industriepartnern, um die Marktakzeptanz zu sichern.</a:t>
            </a:r>
          </a:p>
        </p:txBody>
      </p:sp>
      <p:pic>
        <p:nvPicPr>
          <p:cNvPr id="7" name="Picture 6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54" y="598932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15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336792"/>
            <a:ext cx="99669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Aptos"/>
              </a:rPr>
              <a:t>EMPFEHLUNG |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57200"/>
            <a:ext cx="10469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 Display"/>
              </a:rPr>
              <a:t>Empfehlung: Gezielte, modulare Akquisition (Go, aber mit Einschränkungen)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10744200" cy="1078992"/>
          </a:xfrm>
          <a:prstGeom prst="roundRect">
            <a:avLst/>
          </a:prstGeom>
          <a:solidFill>
            <a:srgbClr val="15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Entscheidungs-Callout: Phased Acquisition (Go/Watch)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52928"/>
            <a:ext cx="5239512" cy="14859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054096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474720"/>
            <a:ext cx="4828032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Wir sollten nicht das gesamte Unternehmen kaufen, sondern die kritischen, wertsteigernden Module (IP und Talent).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852928"/>
            <a:ext cx="5239512" cy="14859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054096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74720"/>
            <a:ext cx="4828032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Der Fokus muss auf der Überführung von Simulations-KI in robuste, reale Anwendungen liegen.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94860"/>
            <a:ext cx="5239512" cy="14859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796028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216652"/>
            <a:ext cx="4828032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Aptos"/>
              </a:rPr>
              <a:t>Die Akquisition ist ein 'Go', wenn sie als IP- und Talent-Deal strukturiert wird, nicht als Gesamtunternehmen-Deal.</a:t>
            </a:r>
          </a:p>
        </p:txBody>
      </p:sp>
      <p:pic>
        <p:nvPicPr>
          <p:cNvPr id="7" name="Picture 6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54" y="598932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1148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336792"/>
            <a:ext cx="99669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4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D2D2D"/>
                </a:solidFill>
                <a:latin typeface="Aptos"/>
              </a:rPr>
              <a:t>ANHANG | Porter Artifact Framework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38251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2D2D2D"/>
                </a:solidFill>
                <a:latin typeface="Aptos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530352"/>
            <a:ext cx="73152" cy="65836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57200"/>
            <a:ext cx="10469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 Display"/>
              </a:rPr>
              <a:t>Quellen und Referenzen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17320"/>
            <a:ext cx="10744200" cy="1078992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Alle Daten basieren auf öffentlich zugänglichen Quellen und internen Wettbewerbsanalysen.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Aptos"/>
              </a:rPr>
              <a:t>- LinkedIn Posts (Figure AI, Neura Robotics)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74320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Aptos"/>
              </a:rPr>
              <a:t>- Fachartikel (arXiv, Vision-Language-Action Models)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1868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Aptos"/>
              </a:rPr>
              <a:t>- Marktanalysen (MarketsandMarkets, Fortune Business Insights)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21868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2D2D"/>
                </a:solidFill>
                <a:latin typeface="Aptos"/>
              </a:rPr>
              <a:t>- Interne Neura Robotics Analysen</a:t>
            </a:r>
          </a:p>
        </p:txBody>
      </p:sp>
      <p:pic>
        <p:nvPicPr>
          <p:cNvPr id="7" name="Picture 6" descr="neu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54" y="5989320"/>
            <a:ext cx="1958741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Microsoft Office PowerPoint</Application>
  <PresentationFormat>Breitbild</PresentationFormat>
  <Paragraphs>95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Porter</dc:creator>
  <cp:keywords/>
  <dc:description>generated using python-pptx</dc:description>
  <cp:lastModifiedBy>Mattis Engelhardt</cp:lastModifiedBy>
  <cp:revision>1</cp:revision>
  <dcterms:created xsi:type="dcterms:W3CDTF">2026-06-02T00:34:00Z</dcterms:created>
  <dcterms:modified xsi:type="dcterms:W3CDTF">2026-06-02T00:34:00Z</dcterms:modified>
  <cp:category/>
</cp:coreProperties>
</file>