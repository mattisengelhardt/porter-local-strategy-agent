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5140F"/>
              </a:gs>
              <a:gs pos="50000">
                <a:srgbClr val="1F4E79"/>
              </a:gs>
              <a:gs pos="100000">
                <a:srgbClr val="157A6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1554480"/>
            <a:ext cx="5669280" cy="5669280"/>
          </a:xfrm>
          <a:prstGeom prst="ellipse">
            <a:avLst/>
          </a:prstGeom>
          <a:solidFill>
            <a:srgbClr val="C99700">
              <a:alpha val="24000"/>
            </a:srgbClr>
          </a:solidFill>
          <a:ln>
            <a:noFill/>
          </a:ln>
          <a:effectLst>
            <a:softEdge rad="10058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D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DACC7"/>
                </a:solidFill>
                <a:latin typeface="Space Mono"/>
              </a:rPr>
              <a:t>PORTER ARTIFACT FRAMEWORK V2.0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9700"/>
                </a:solidFill>
                <a:latin typeface="Space Grotesk"/>
              </a:rPr>
              <a:t>Preparing</a:t>
            </a:r>
            <a:r>
              <a:rPr sz="4000" b="1">
                <a:solidFill>
                  <a:srgbClr val="FFFFFF"/>
                </a:solidFill>
                <a:latin typeface="Space Grotesk"/>
              </a:rPr>
              <a:t> a comprehensive, board-grade presentation assessing Apptronik's competitive threat and outlining concrete 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8006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DACC7"/>
                </a:solidFill>
                <a:latin typeface="Inter"/>
              </a:rPr>
              <a:t>Management Briefing · 2026-06-03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0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5F5F5"/>
                </a:solidFill>
                <a:latin typeface="Space Mono"/>
              </a:rPr>
              <a:t>2026-06-03</a:t>
            </a:r>
          </a:p>
        </p:txBody>
      </p:sp>
      <p:pic>
        <p:nvPicPr>
          <p:cNvPr id="10" name="Picture 9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954" y="6126480"/>
            <a:ext cx="1958741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4D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336792"/>
            <a:ext cx="9966960" cy="109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Space Mono"/>
              </a:rPr>
              <a:t>EXECUTIVE SUMMARY  ·  Porter Artifact Framework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2D2D2D"/>
                </a:solidFill>
                <a:latin typeface="Space Mono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6391656"/>
            <a:ext cx="998524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99852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Space Mono"/>
              </a:rPr>
              <a:t>SOURCES 258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2612" y="6391656"/>
            <a:ext cx="866851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2612" y="6400800"/>
            <a:ext cx="866851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Space Mono"/>
              </a:rPr>
              <a:t>WORKERS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1" y="6391656"/>
            <a:ext cx="1393545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1" y="6400800"/>
            <a:ext cx="1393545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Space Mono"/>
              </a:rPr>
              <a:t>CONFIDENCE 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2465" y="6391656"/>
            <a:ext cx="1130198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2465" y="6400800"/>
            <a:ext cx="113019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Space Mono"/>
              </a:rPr>
              <a:t>AS OF 2026-02</a:t>
            </a:r>
          </a:p>
        </p:txBody>
      </p:sp>
      <p:pic>
        <p:nvPicPr>
          <p:cNvPr id="15" name="Picture 14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954" y="6126480"/>
            <a:ext cx="1958741" cy="3657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1792" y="530352"/>
            <a:ext cx="73152" cy="658368"/>
          </a:xfrm>
          <a:prstGeom prst="rect">
            <a:avLst/>
          </a:prstGeom>
          <a:solidFill>
            <a:srgbClr val="4D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813"/>
                </a:solidFill>
                <a:latin typeface="Space Grotesk"/>
              </a:rPr>
              <a:t>(Synthesis failed — LLM backend error: LLM backend error (BadRequestError): Error code: </a:t>
            </a:r>
            <a:r>
              <a:rPr sz="2500" b="1">
                <a:solidFill>
                  <a:srgbClr val="E4572E"/>
                </a:solidFill>
                <a:latin typeface="Space Grotesk"/>
              </a:rPr>
              <a:t>400</a:t>
            </a:r>
            <a:r>
              <a:rPr sz="2500" b="1">
                <a:solidFill>
                  <a:srgbClr val="1A1813"/>
                </a:solidFill>
                <a:latin typeface="Space Grotesk"/>
              </a:rPr>
              <a:t>-...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81328"/>
            <a:ext cx="10744200" cy="1078992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2000" b="1">
                <a:solidFill>
                  <a:srgbClr val="FFFFFF"/>
                </a:solidFill>
                <a:latin typeface="Space Grotesk"/>
              </a:rPr>
              <a:t>(Synthesis failed — LLM backend error: LLM backend error (BadRequestError): Error code: 400 - {'error': {'message'...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880360"/>
            <a:ext cx="107442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2880360"/>
            <a:ext cx="91440" cy="1965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27080" y="299008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4E79"/>
                </a:solidFill>
                <a:latin typeface="Inter"/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0449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Space Mono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465576"/>
            <a:ext cx="10195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813"/>
                </a:solidFill>
                <a:latin typeface="Inter"/>
              </a:rPr>
              <a:t>Please load a model in the developer page or use the 'lms load' command.", 'type': 'invalid_request_error'...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55371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Space Mono"/>
              </a:rPr>
              <a:t>[01]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4D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336792"/>
            <a:ext cx="9966960" cy="109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Space Mono"/>
              </a:rPr>
              <a:t>STRATEGIC SIGNALS  ·  Porter Artifact Framework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2D2D2D"/>
                </a:solidFill>
                <a:latin typeface="Space Mono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6391656"/>
            <a:ext cx="998524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99852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Space Mono"/>
              </a:rPr>
              <a:t>SOURCES 258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2612" y="6391656"/>
            <a:ext cx="866851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2612" y="6400800"/>
            <a:ext cx="866851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Space Mono"/>
              </a:rPr>
              <a:t>WORKERS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1" y="6391656"/>
            <a:ext cx="1393545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1" y="6400800"/>
            <a:ext cx="1393545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Space Mono"/>
              </a:rPr>
              <a:t>CONFIDENCE 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2465" y="6391656"/>
            <a:ext cx="1130198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2465" y="6400800"/>
            <a:ext cx="113019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Space Mono"/>
              </a:rPr>
              <a:t>AS OF 2026-02</a:t>
            </a:r>
          </a:p>
        </p:txBody>
      </p:sp>
      <p:pic>
        <p:nvPicPr>
          <p:cNvPr id="15" name="Picture 14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954" y="6126480"/>
            <a:ext cx="1958741" cy="3657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1792" y="530352"/>
            <a:ext cx="73152" cy="658368"/>
          </a:xfrm>
          <a:prstGeom prst="rect">
            <a:avLst/>
          </a:prstGeom>
          <a:solidFill>
            <a:srgbClr val="4D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813"/>
                </a:solidFill>
                <a:latin typeface="Space Grotesk"/>
              </a:rPr>
              <a:t>The source base shows </a:t>
            </a:r>
            <a:r>
              <a:rPr sz="2500" b="1">
                <a:solidFill>
                  <a:srgbClr val="E4572E"/>
                </a:solidFill>
                <a:latin typeface="Space Grotesk"/>
              </a:rPr>
              <a:t>4</a:t>
            </a:r>
            <a:r>
              <a:rPr sz="2500" b="1">
                <a:solidFill>
                  <a:srgbClr val="1A1813"/>
                </a:solidFill>
                <a:latin typeface="Space Grotesk"/>
              </a:rPr>
              <a:t>concrete evidence anchors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1444752"/>
            <a:ext cx="10744200" cy="1078992"/>
          </a:xfrm>
          <a:prstGeom prst="roundRect">
            <a:avLst/>
          </a:prstGeom>
          <a:solidFill>
            <a:srgbClr val="4DA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2000" b="1">
                <a:solidFill>
                  <a:srgbClr val="FFFFFF"/>
                </a:solidFill>
                <a:latin typeface="Space Grotesk"/>
              </a:rPr>
              <a:t>Only surface validated 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788920"/>
            <a:ext cx="5239512" cy="15179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2788920"/>
            <a:ext cx="91440" cy="151790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2392" y="289864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4E79"/>
                </a:solidFill>
                <a:latin typeface="Inter"/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935224"/>
            <a:ext cx="43708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Space Grotesk"/>
              </a:rPr>
              <a:t>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557015"/>
            <a:ext cx="46908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813"/>
                </a:solidFill>
                <a:latin typeface="Inter"/>
              </a:rPr>
              <a:t>(Synthesis failed — LLM backend error: LLM backend error (BadRequestError): Error code: 400 - {'error': {'message': "No models...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014215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Space Mono"/>
              </a:rPr>
              <a:t>[01]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2788920"/>
            <a:ext cx="5239512" cy="15179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53912" y="2788920"/>
            <a:ext cx="91440" cy="1517904"/>
          </a:xfrm>
          <a:prstGeom prst="roundRect">
            <a:avLst/>
          </a:prstGeom>
          <a:solidFill>
            <a:srgbClr val="15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17936" y="289864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57A6E"/>
                </a:solidFill>
                <a:latin typeface="Inter"/>
              </a:rPr>
              <a:t>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935224"/>
            <a:ext cx="43708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7A6E"/>
                </a:solidFill>
                <a:latin typeface="Space Grotesk"/>
              </a:rPr>
              <a:t>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557015"/>
            <a:ext cx="46908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813"/>
                </a:solidFill>
                <a:latin typeface="Inter"/>
              </a:rPr>
              <a:t>https://techcrunch.com/2026/02/11/humanoid-robot-startup-apptronik-has-now-raised-935m-at-a-5b-valuation/ (https://techcrunch.com/2026/02/11/humanoid-robot-startu...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014215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Space Mono"/>
              </a:rPr>
              <a:t>[02]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62856"/>
            <a:ext cx="5239512" cy="15179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4562856"/>
            <a:ext cx="91440" cy="1517904"/>
          </a:xfrm>
          <a:prstGeom prst="roundRect">
            <a:avLst/>
          </a:prstGeom>
          <a:solidFill>
            <a:srgbClr val="4DA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22392" y="467258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DACC7"/>
                </a:solidFill>
                <a:latin typeface="Inter"/>
              </a:rPr>
              <a:t>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709160"/>
            <a:ext cx="43708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DACC7"/>
                </a:solidFill>
                <a:latin typeface="Space Grotesk"/>
              </a:rPr>
              <a:t>1832483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330952"/>
            <a:ext cx="46908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813"/>
                </a:solidFill>
                <a:latin typeface="Inter"/>
              </a:rPr>
              <a:t>https://www.sec.gov/Archives/edgar/data/1832483/000183248325000010/patr-20241231.htm (https://www.sec.gov/Archives/edgar/data/1832483/000183248325000010/patr-2024...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7881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Space Mono"/>
              </a:rPr>
              <a:t>[03]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3912" y="4562856"/>
            <a:ext cx="5239512" cy="15179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53912" y="4562856"/>
            <a:ext cx="91440" cy="1517904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17936" y="467258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99700"/>
                </a:solidFill>
                <a:latin typeface="Inter"/>
              </a:rPr>
              <a:t>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2" y="47274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9700"/>
                </a:solidFill>
                <a:latin typeface="Space Mono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5148072"/>
            <a:ext cx="4690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813"/>
                </a:solidFill>
                <a:latin typeface="Inter"/>
              </a:rPr>
              <a:t>https://de.linkedin.com/company/neura-robotics (https://de.linkedin.com/company/neura-robotics)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57881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Space Mono"/>
              </a:rPr>
              <a:t>[04]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5140F"/>
              </a:gs>
              <a:gs pos="50000">
                <a:srgbClr val="1F4E79"/>
              </a:gs>
              <a:gs pos="100000">
                <a:srgbClr val="157A6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1554480"/>
            <a:ext cx="5669280" cy="5669280"/>
          </a:xfrm>
          <a:prstGeom prst="ellipse">
            <a:avLst/>
          </a:prstGeom>
          <a:solidFill>
            <a:srgbClr val="C99700">
              <a:alpha val="24000"/>
            </a:srgbClr>
          </a:solidFill>
          <a:ln>
            <a:noFill/>
          </a:ln>
          <a:effectLst>
            <a:softEdge rad="10058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15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336792"/>
            <a:ext cx="9966960" cy="109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F5F5"/>
                </a:solidFill>
                <a:latin typeface="Space Mono"/>
              </a:rPr>
              <a:t>RECOMMENDATION  ·  Porter Artifact Framework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825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F5F5F5"/>
                </a:solidFill>
                <a:latin typeface="Space Mono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6391656"/>
            <a:ext cx="998524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00800"/>
            <a:ext cx="99852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5F5F5"/>
                </a:solidFill>
                <a:latin typeface="Space Mono"/>
              </a:rPr>
              <a:t>SOURCES 258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2612" y="6391656"/>
            <a:ext cx="866851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2612" y="6400800"/>
            <a:ext cx="866851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5F5F5"/>
                </a:solidFill>
                <a:latin typeface="Space Mono"/>
              </a:rPr>
              <a:t>WORKERS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9191" y="6391656"/>
            <a:ext cx="1393545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1" y="6400800"/>
            <a:ext cx="1393545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5F5F5"/>
                </a:solidFill>
                <a:latin typeface="Space Mono"/>
              </a:rPr>
              <a:t>CONFIDENCE MEDIUM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2465" y="6391656"/>
            <a:ext cx="1130198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2465" y="6400800"/>
            <a:ext cx="113019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5F5F5"/>
                </a:solidFill>
                <a:latin typeface="Space Mono"/>
              </a:rPr>
              <a:t>AS OF 2026-02</a:t>
            </a:r>
          </a:p>
        </p:txBody>
      </p:sp>
      <p:pic>
        <p:nvPicPr>
          <p:cNvPr id="17" name="Picture 16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954" y="6126480"/>
            <a:ext cx="1958741" cy="3657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21792" y="530352"/>
            <a:ext cx="73152" cy="658368"/>
          </a:xfrm>
          <a:prstGeom prst="rect">
            <a:avLst/>
          </a:prstGeom>
          <a:solidFill>
            <a:srgbClr val="15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99700"/>
                </a:solidFill>
                <a:latin typeface="Space Grotesk"/>
              </a:rPr>
              <a:t>The</a:t>
            </a:r>
            <a:r>
              <a:rPr sz="2500" b="1">
                <a:solidFill>
                  <a:srgbClr val="FFFFFF"/>
                </a:solidFill>
                <a:latin typeface="Space Grotesk"/>
              </a:rPr>
              <a:t> next management move follows from the bottom 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481328"/>
            <a:ext cx="10744200" cy="1078992"/>
          </a:xfrm>
          <a:prstGeom prst="roundRect">
            <a:avLst/>
          </a:prstGeom>
          <a:solidFill>
            <a:srgbClr val="15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2000" b="1">
                <a:solidFill>
                  <a:srgbClr val="FFFFFF"/>
                </a:solidFill>
                <a:latin typeface="Space Grotesk"/>
              </a:rPr>
              <a:t>(Synthesis failed — LLM backend error: LLM backend error (BadRequestError): Error code: 400 - {'error': {'message': "No models...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52928"/>
            <a:ext cx="107442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2852928"/>
            <a:ext cx="91440" cy="1965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27080" y="296265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4E79"/>
                </a:solidFill>
                <a:latin typeface="Inter"/>
              </a:rPr>
              <a:t>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Space Mono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438144"/>
            <a:ext cx="10195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813"/>
                </a:solidFill>
                <a:latin typeface="Inter"/>
              </a:rPr>
              <a:t>Please load a model in the developer page or use the 'lms load' command.", 'type': 'invalid_request_error'...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526279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Space Mono"/>
              </a:rPr>
              <a:t>[01]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336792"/>
            <a:ext cx="9966960" cy="109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Space Mono"/>
              </a:rPr>
              <a:t>APPENDIX  ·  Porter Artifact Framework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2D2D2D"/>
                </a:solidFill>
                <a:latin typeface="Space Mono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6391656"/>
            <a:ext cx="998524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99852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Space Mono"/>
              </a:rPr>
              <a:t>SOURCES 258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2612" y="6391656"/>
            <a:ext cx="866851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2612" y="6400800"/>
            <a:ext cx="866851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Space Mono"/>
              </a:rPr>
              <a:t>WORKERS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1" y="6391656"/>
            <a:ext cx="1393545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1" y="6400800"/>
            <a:ext cx="1393545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Space Mono"/>
              </a:rPr>
              <a:t>CONFIDENCE 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2465" y="6391656"/>
            <a:ext cx="1130198" cy="256032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2465" y="6400800"/>
            <a:ext cx="113019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Space Mono"/>
              </a:rPr>
              <a:t>AS OF 2026-02</a:t>
            </a:r>
          </a:p>
        </p:txBody>
      </p:sp>
      <p:pic>
        <p:nvPicPr>
          <p:cNvPr id="15" name="Picture 14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954" y="6126480"/>
            <a:ext cx="1958741" cy="3657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1792" y="530352"/>
            <a:ext cx="73152" cy="6583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813"/>
                </a:solidFill>
                <a:latin typeface="Space Grotesk"/>
              </a:rPr>
              <a:t>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57276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Inter"/>
              </a:rPr>
              <a:t>- https://techcrunch.com/2026/02/11/humanoid-robot-startup-apptronik-has-now-raised-935m-at-a-5b-valuation/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57276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Inter"/>
              </a:rPr>
              <a:t>- https://www.sec.gov/Archives/edgar/data/1832483/000183248325000010/patr-20241231.htm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04825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Inter"/>
              </a:rPr>
              <a:t>- https://de.linkedin.com/company/neura-robotics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04825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Inter"/>
              </a:rPr>
              <a:t>- https://news.crunchbase.com/venture/ai-humanoid-robot-funding-apptronik/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